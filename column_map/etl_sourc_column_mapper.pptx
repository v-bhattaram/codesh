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57237E-CEA9-4EF4-BB93-05E6F5128D73}" type="doc">
      <dgm:prSet loTypeId="urn:microsoft.com/office/officeart/2005/8/layout/chevron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3C00E489-9AC5-413C-8242-74EC73778CED}">
      <dgm:prSet phldrT="[Text]" phldr="0"/>
      <dgm:spPr/>
      <dgm:t>
        <a:bodyPr/>
        <a:lstStyle/>
        <a:p>
          <a:r>
            <a:rPr lang="en-US" dirty="0"/>
            <a:t>Setup Source JSON Data</a:t>
          </a:r>
        </a:p>
      </dgm:t>
    </dgm:pt>
    <dgm:pt modelId="{358D8B11-7A42-4D26-834E-1630721C2B56}" type="parTrans" cxnId="{6345A994-3624-48B9-98CC-90E020363719}">
      <dgm:prSet/>
      <dgm:spPr/>
      <dgm:t>
        <a:bodyPr/>
        <a:lstStyle/>
        <a:p>
          <a:endParaRPr lang="en-US"/>
        </a:p>
      </dgm:t>
    </dgm:pt>
    <dgm:pt modelId="{8FC2B818-6643-47F4-A192-4C0737F0A1F4}" type="sibTrans" cxnId="{6345A994-3624-48B9-98CC-90E020363719}">
      <dgm:prSet/>
      <dgm:spPr/>
      <dgm:t>
        <a:bodyPr/>
        <a:lstStyle/>
        <a:p>
          <a:endParaRPr lang="en-US"/>
        </a:p>
      </dgm:t>
    </dgm:pt>
    <dgm:pt modelId="{4D803EA8-E8BE-46D6-9CA5-E9AC6FF01C87}">
      <dgm:prSet phldrT="[Text]" phldr="0"/>
      <dgm:spPr/>
      <dgm:t>
        <a:bodyPr/>
        <a:lstStyle/>
        <a:p>
          <a:r>
            <a:rPr lang="en-US" dirty="0"/>
            <a:t>Setup Target JSON Data</a:t>
          </a:r>
        </a:p>
      </dgm:t>
    </dgm:pt>
    <dgm:pt modelId="{0B5CA95D-1DB0-4F2F-9BBC-33BD1D592798}" type="parTrans" cxnId="{AA249E6E-962C-48C8-BF50-29FFC8214055}">
      <dgm:prSet/>
      <dgm:spPr/>
      <dgm:t>
        <a:bodyPr/>
        <a:lstStyle/>
        <a:p>
          <a:endParaRPr lang="en-US"/>
        </a:p>
      </dgm:t>
    </dgm:pt>
    <dgm:pt modelId="{41520889-3FBD-45FF-9163-A33C06B64170}" type="sibTrans" cxnId="{AA249E6E-962C-48C8-BF50-29FFC8214055}">
      <dgm:prSet/>
      <dgm:spPr/>
      <dgm:t>
        <a:bodyPr/>
        <a:lstStyle/>
        <a:p>
          <a:endParaRPr lang="en-US"/>
        </a:p>
      </dgm:t>
    </dgm:pt>
    <dgm:pt modelId="{BC2967E2-DB09-4814-956A-164E542E5DAA}">
      <dgm:prSet phldrT="[Text]" phldr="0"/>
      <dgm:spPr/>
      <dgm:t>
        <a:bodyPr/>
        <a:lstStyle/>
        <a:p>
          <a:r>
            <a:rPr lang="en-US" dirty="0"/>
            <a:t>Run Framework Generate Draft</a:t>
          </a:r>
        </a:p>
      </dgm:t>
    </dgm:pt>
    <dgm:pt modelId="{964A8F26-4659-4623-A062-5392C3E8C6DA}" type="parTrans" cxnId="{67D3BD7B-041F-40DC-AC44-D305944A7E8F}">
      <dgm:prSet/>
      <dgm:spPr/>
      <dgm:t>
        <a:bodyPr/>
        <a:lstStyle/>
        <a:p>
          <a:endParaRPr lang="en-US"/>
        </a:p>
      </dgm:t>
    </dgm:pt>
    <dgm:pt modelId="{170213BF-E6EB-426F-AFC1-F5F01C3AE904}" type="sibTrans" cxnId="{67D3BD7B-041F-40DC-AC44-D305944A7E8F}">
      <dgm:prSet/>
      <dgm:spPr/>
      <dgm:t>
        <a:bodyPr/>
        <a:lstStyle/>
        <a:p>
          <a:endParaRPr lang="en-US"/>
        </a:p>
      </dgm:t>
    </dgm:pt>
    <dgm:pt modelId="{7061971B-F87C-4CD1-8849-36B73811388B}">
      <dgm:prSet phldrT="[Text]" phldr="0"/>
      <dgm:spPr/>
      <dgm:t>
        <a:bodyPr/>
        <a:lstStyle/>
        <a:p>
          <a:r>
            <a:rPr lang="en-US"/>
            <a:t>Edit Draft</a:t>
          </a:r>
          <a:endParaRPr lang="en-US" dirty="0"/>
        </a:p>
      </dgm:t>
    </dgm:pt>
    <dgm:pt modelId="{735FC411-728E-4235-B22B-D87BCE395C23}" type="parTrans" cxnId="{D8B51DA8-847E-4FF0-9ECB-AE87A0CD4B3A}">
      <dgm:prSet/>
      <dgm:spPr/>
      <dgm:t>
        <a:bodyPr/>
        <a:lstStyle/>
        <a:p>
          <a:endParaRPr lang="en-US"/>
        </a:p>
      </dgm:t>
    </dgm:pt>
    <dgm:pt modelId="{C8544551-D020-4184-A87C-3E3144A4E16A}" type="sibTrans" cxnId="{D8B51DA8-847E-4FF0-9ECB-AE87A0CD4B3A}">
      <dgm:prSet/>
      <dgm:spPr/>
      <dgm:t>
        <a:bodyPr/>
        <a:lstStyle/>
        <a:p>
          <a:endParaRPr lang="en-US"/>
        </a:p>
      </dgm:t>
    </dgm:pt>
    <dgm:pt modelId="{C8CA996B-4880-4BAB-9A11-2EDFDD295659}">
      <dgm:prSet phldrT="[Text]" phldr="0"/>
      <dgm:spPr/>
      <dgm:t>
        <a:bodyPr/>
        <a:lstStyle/>
        <a:p>
          <a:r>
            <a:rPr lang="en-US" dirty="0"/>
            <a:t>Run Validator</a:t>
          </a:r>
        </a:p>
      </dgm:t>
    </dgm:pt>
    <dgm:pt modelId="{533E64ED-ACA3-48F5-B733-CA9BB72ADA66}" type="parTrans" cxnId="{6ECEE783-1DAE-4A71-A5B9-989DE2D167B8}">
      <dgm:prSet/>
      <dgm:spPr/>
      <dgm:t>
        <a:bodyPr/>
        <a:lstStyle/>
        <a:p>
          <a:endParaRPr lang="en-US"/>
        </a:p>
      </dgm:t>
    </dgm:pt>
    <dgm:pt modelId="{D382343A-484B-49D9-9CE6-7D0423C95EF3}" type="sibTrans" cxnId="{6ECEE783-1DAE-4A71-A5B9-989DE2D167B8}">
      <dgm:prSet/>
      <dgm:spPr/>
      <dgm:t>
        <a:bodyPr/>
        <a:lstStyle/>
        <a:p>
          <a:endParaRPr lang="en-US"/>
        </a:p>
      </dgm:t>
    </dgm:pt>
    <dgm:pt modelId="{7585C50C-64E1-4470-BAD0-049A0AC5666D}">
      <dgm:prSet phldrT="[Text]" phldr="0"/>
      <dgm:spPr/>
      <dgm:t>
        <a:bodyPr/>
        <a:lstStyle/>
        <a:p>
          <a:r>
            <a:rPr lang="en-US"/>
            <a:t>Generate Target-Source Map</a:t>
          </a:r>
          <a:endParaRPr lang="en-US" dirty="0"/>
        </a:p>
      </dgm:t>
    </dgm:pt>
    <dgm:pt modelId="{F77E506A-7526-46D8-8810-0BA91F9ABF3C}" type="parTrans" cxnId="{F893E3FA-6B74-42E9-B40F-10E236443309}">
      <dgm:prSet/>
      <dgm:spPr/>
      <dgm:t>
        <a:bodyPr/>
        <a:lstStyle/>
        <a:p>
          <a:endParaRPr lang="en-US"/>
        </a:p>
      </dgm:t>
    </dgm:pt>
    <dgm:pt modelId="{2E663D6C-BBF6-4B2F-857B-05CC5212CE3B}" type="sibTrans" cxnId="{F893E3FA-6B74-42E9-B40F-10E236443309}">
      <dgm:prSet/>
      <dgm:spPr/>
      <dgm:t>
        <a:bodyPr/>
        <a:lstStyle/>
        <a:p>
          <a:endParaRPr lang="en-US"/>
        </a:p>
      </dgm:t>
    </dgm:pt>
    <dgm:pt modelId="{F4CF2F9B-2F4F-4CB0-9F02-4EC23835423F}" type="pres">
      <dgm:prSet presAssocID="{1157237E-CEA9-4EF4-BB93-05E6F5128D73}" presName="Name0" presStyleCnt="0">
        <dgm:presLayoutVars>
          <dgm:dir/>
          <dgm:animLvl val="lvl"/>
          <dgm:resizeHandles val="exact"/>
        </dgm:presLayoutVars>
      </dgm:prSet>
      <dgm:spPr/>
    </dgm:pt>
    <dgm:pt modelId="{29988973-5A6D-4581-AF28-C134A9260C25}" type="pres">
      <dgm:prSet presAssocID="{3C00E489-9AC5-413C-8242-74EC73778CED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2FB5476B-FCD4-447B-9CC3-CF5C0E53AEDD}" type="pres">
      <dgm:prSet presAssocID="{8FC2B818-6643-47F4-A192-4C0737F0A1F4}" presName="parTxOnlySpace" presStyleCnt="0"/>
      <dgm:spPr/>
    </dgm:pt>
    <dgm:pt modelId="{A5C2A6D9-5ACB-4E01-A403-ABE366DC5B6E}" type="pres">
      <dgm:prSet presAssocID="{4D803EA8-E8BE-46D6-9CA5-E9AC6FF01C87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199B8857-71C0-4D39-B3E8-D5EABC9DD046}" type="pres">
      <dgm:prSet presAssocID="{41520889-3FBD-45FF-9163-A33C06B64170}" presName="parTxOnlySpace" presStyleCnt="0"/>
      <dgm:spPr/>
    </dgm:pt>
    <dgm:pt modelId="{C65C0B06-B8B9-4C3B-9399-D2CB31EAD156}" type="pres">
      <dgm:prSet presAssocID="{BC2967E2-DB09-4814-956A-164E542E5DAA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795F0F0B-B5CF-47B2-BCDB-15010A95D44A}" type="pres">
      <dgm:prSet presAssocID="{170213BF-E6EB-426F-AFC1-F5F01C3AE904}" presName="parTxOnlySpace" presStyleCnt="0"/>
      <dgm:spPr/>
    </dgm:pt>
    <dgm:pt modelId="{2C47AFE8-8D30-4579-B066-226B579E8ACF}" type="pres">
      <dgm:prSet presAssocID="{7061971B-F87C-4CD1-8849-36B73811388B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6035DD58-3D0A-4F6C-BDC9-D65DD6033186}" type="pres">
      <dgm:prSet presAssocID="{C8544551-D020-4184-A87C-3E3144A4E16A}" presName="parTxOnlySpace" presStyleCnt="0"/>
      <dgm:spPr/>
    </dgm:pt>
    <dgm:pt modelId="{5F81507D-0060-4754-ABBC-F951AC643097}" type="pres">
      <dgm:prSet presAssocID="{C8CA996B-4880-4BAB-9A11-2EDFDD295659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D0AADEF2-E9CF-4BFC-B31D-C479DE3DCD2F}" type="pres">
      <dgm:prSet presAssocID="{D382343A-484B-49D9-9CE6-7D0423C95EF3}" presName="parTxOnlySpace" presStyleCnt="0"/>
      <dgm:spPr/>
    </dgm:pt>
    <dgm:pt modelId="{4C643D33-80CA-4E1D-89C2-A84A883B3579}" type="pres">
      <dgm:prSet presAssocID="{7585C50C-64E1-4470-BAD0-049A0AC5666D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084E604-83D8-4A4A-B4AB-B2F41543EB08}" type="presOf" srcId="{BC2967E2-DB09-4814-956A-164E542E5DAA}" destId="{C65C0B06-B8B9-4C3B-9399-D2CB31EAD156}" srcOrd="0" destOrd="0" presId="urn:microsoft.com/office/officeart/2005/8/layout/chevron1"/>
    <dgm:cxn modelId="{AEF6F708-4F40-4BFA-96AC-70B37C1EA8DD}" type="presOf" srcId="{1157237E-CEA9-4EF4-BB93-05E6F5128D73}" destId="{F4CF2F9B-2F4F-4CB0-9F02-4EC23835423F}" srcOrd="0" destOrd="0" presId="urn:microsoft.com/office/officeart/2005/8/layout/chevron1"/>
    <dgm:cxn modelId="{4539E021-055A-4BE0-A4E5-691FE310B80C}" type="presOf" srcId="{3C00E489-9AC5-413C-8242-74EC73778CED}" destId="{29988973-5A6D-4581-AF28-C134A9260C25}" srcOrd="0" destOrd="0" presId="urn:microsoft.com/office/officeart/2005/8/layout/chevron1"/>
    <dgm:cxn modelId="{8C776C45-F568-415A-A9D8-3E40B514E1FB}" type="presOf" srcId="{7061971B-F87C-4CD1-8849-36B73811388B}" destId="{2C47AFE8-8D30-4579-B066-226B579E8ACF}" srcOrd="0" destOrd="0" presId="urn:microsoft.com/office/officeart/2005/8/layout/chevron1"/>
    <dgm:cxn modelId="{AA249E6E-962C-48C8-BF50-29FFC8214055}" srcId="{1157237E-CEA9-4EF4-BB93-05E6F5128D73}" destId="{4D803EA8-E8BE-46D6-9CA5-E9AC6FF01C87}" srcOrd="1" destOrd="0" parTransId="{0B5CA95D-1DB0-4F2F-9BBC-33BD1D592798}" sibTransId="{41520889-3FBD-45FF-9163-A33C06B64170}"/>
    <dgm:cxn modelId="{67D3BD7B-041F-40DC-AC44-D305944A7E8F}" srcId="{1157237E-CEA9-4EF4-BB93-05E6F5128D73}" destId="{BC2967E2-DB09-4814-956A-164E542E5DAA}" srcOrd="2" destOrd="0" parTransId="{964A8F26-4659-4623-A062-5392C3E8C6DA}" sibTransId="{170213BF-E6EB-426F-AFC1-F5F01C3AE904}"/>
    <dgm:cxn modelId="{6ECEE783-1DAE-4A71-A5B9-989DE2D167B8}" srcId="{1157237E-CEA9-4EF4-BB93-05E6F5128D73}" destId="{C8CA996B-4880-4BAB-9A11-2EDFDD295659}" srcOrd="4" destOrd="0" parTransId="{533E64ED-ACA3-48F5-B733-CA9BB72ADA66}" sibTransId="{D382343A-484B-49D9-9CE6-7D0423C95EF3}"/>
    <dgm:cxn modelId="{B4B7D98A-7085-49A5-8896-2BB6FDD049BE}" type="presOf" srcId="{C8CA996B-4880-4BAB-9A11-2EDFDD295659}" destId="{5F81507D-0060-4754-ABBC-F951AC643097}" srcOrd="0" destOrd="0" presId="urn:microsoft.com/office/officeart/2005/8/layout/chevron1"/>
    <dgm:cxn modelId="{6345A994-3624-48B9-98CC-90E020363719}" srcId="{1157237E-CEA9-4EF4-BB93-05E6F5128D73}" destId="{3C00E489-9AC5-413C-8242-74EC73778CED}" srcOrd="0" destOrd="0" parTransId="{358D8B11-7A42-4D26-834E-1630721C2B56}" sibTransId="{8FC2B818-6643-47F4-A192-4C0737F0A1F4}"/>
    <dgm:cxn modelId="{D8B51DA8-847E-4FF0-9ECB-AE87A0CD4B3A}" srcId="{1157237E-CEA9-4EF4-BB93-05E6F5128D73}" destId="{7061971B-F87C-4CD1-8849-36B73811388B}" srcOrd="3" destOrd="0" parTransId="{735FC411-728E-4235-B22B-D87BCE395C23}" sibTransId="{C8544551-D020-4184-A87C-3E3144A4E16A}"/>
    <dgm:cxn modelId="{383366B9-A9C6-45E5-8FE4-03E802B02B52}" type="presOf" srcId="{7585C50C-64E1-4470-BAD0-049A0AC5666D}" destId="{4C643D33-80CA-4E1D-89C2-A84A883B3579}" srcOrd="0" destOrd="0" presId="urn:microsoft.com/office/officeart/2005/8/layout/chevron1"/>
    <dgm:cxn modelId="{43410FBA-762F-4AA4-9F9D-3C984425705A}" type="presOf" srcId="{4D803EA8-E8BE-46D6-9CA5-E9AC6FF01C87}" destId="{A5C2A6D9-5ACB-4E01-A403-ABE366DC5B6E}" srcOrd="0" destOrd="0" presId="urn:microsoft.com/office/officeart/2005/8/layout/chevron1"/>
    <dgm:cxn modelId="{F893E3FA-6B74-42E9-B40F-10E236443309}" srcId="{1157237E-CEA9-4EF4-BB93-05E6F5128D73}" destId="{7585C50C-64E1-4470-BAD0-049A0AC5666D}" srcOrd="5" destOrd="0" parTransId="{F77E506A-7526-46D8-8810-0BA91F9ABF3C}" sibTransId="{2E663D6C-BBF6-4B2F-857B-05CC5212CE3B}"/>
    <dgm:cxn modelId="{82E5A992-70A7-43CE-80A8-9B31376D6F5D}" type="presParOf" srcId="{F4CF2F9B-2F4F-4CB0-9F02-4EC23835423F}" destId="{29988973-5A6D-4581-AF28-C134A9260C25}" srcOrd="0" destOrd="0" presId="urn:microsoft.com/office/officeart/2005/8/layout/chevron1"/>
    <dgm:cxn modelId="{71F88DC9-0287-41FF-B95E-2A8ED4C47127}" type="presParOf" srcId="{F4CF2F9B-2F4F-4CB0-9F02-4EC23835423F}" destId="{2FB5476B-FCD4-447B-9CC3-CF5C0E53AEDD}" srcOrd="1" destOrd="0" presId="urn:microsoft.com/office/officeart/2005/8/layout/chevron1"/>
    <dgm:cxn modelId="{CABB2560-CF81-4DB3-9101-135940EE4D6D}" type="presParOf" srcId="{F4CF2F9B-2F4F-4CB0-9F02-4EC23835423F}" destId="{A5C2A6D9-5ACB-4E01-A403-ABE366DC5B6E}" srcOrd="2" destOrd="0" presId="urn:microsoft.com/office/officeart/2005/8/layout/chevron1"/>
    <dgm:cxn modelId="{64DE318F-9227-453B-88B8-3B939ACF9DDC}" type="presParOf" srcId="{F4CF2F9B-2F4F-4CB0-9F02-4EC23835423F}" destId="{199B8857-71C0-4D39-B3E8-D5EABC9DD046}" srcOrd="3" destOrd="0" presId="urn:microsoft.com/office/officeart/2005/8/layout/chevron1"/>
    <dgm:cxn modelId="{E37CEDAB-B374-43D4-A532-1E6C9B4E7954}" type="presParOf" srcId="{F4CF2F9B-2F4F-4CB0-9F02-4EC23835423F}" destId="{C65C0B06-B8B9-4C3B-9399-D2CB31EAD156}" srcOrd="4" destOrd="0" presId="urn:microsoft.com/office/officeart/2005/8/layout/chevron1"/>
    <dgm:cxn modelId="{A78DE9CC-D659-41FE-87D8-A3B52AA2CDBB}" type="presParOf" srcId="{F4CF2F9B-2F4F-4CB0-9F02-4EC23835423F}" destId="{795F0F0B-B5CF-47B2-BCDB-15010A95D44A}" srcOrd="5" destOrd="0" presId="urn:microsoft.com/office/officeart/2005/8/layout/chevron1"/>
    <dgm:cxn modelId="{9F7CE989-C650-4BD5-9ABD-4CF14825EF1B}" type="presParOf" srcId="{F4CF2F9B-2F4F-4CB0-9F02-4EC23835423F}" destId="{2C47AFE8-8D30-4579-B066-226B579E8ACF}" srcOrd="6" destOrd="0" presId="urn:microsoft.com/office/officeart/2005/8/layout/chevron1"/>
    <dgm:cxn modelId="{EDDDC4E3-D9ED-4C70-9345-4CFE664539E8}" type="presParOf" srcId="{F4CF2F9B-2F4F-4CB0-9F02-4EC23835423F}" destId="{6035DD58-3D0A-4F6C-BDC9-D65DD6033186}" srcOrd="7" destOrd="0" presId="urn:microsoft.com/office/officeart/2005/8/layout/chevron1"/>
    <dgm:cxn modelId="{EDE71672-E0CB-4D56-A341-15D39DA3CE1C}" type="presParOf" srcId="{F4CF2F9B-2F4F-4CB0-9F02-4EC23835423F}" destId="{5F81507D-0060-4754-ABBC-F951AC643097}" srcOrd="8" destOrd="0" presId="urn:microsoft.com/office/officeart/2005/8/layout/chevron1"/>
    <dgm:cxn modelId="{446F78E9-31A2-43B1-9C9D-442BC14D2BBE}" type="presParOf" srcId="{F4CF2F9B-2F4F-4CB0-9F02-4EC23835423F}" destId="{D0AADEF2-E9CF-4BFC-B31D-C479DE3DCD2F}" srcOrd="9" destOrd="0" presId="urn:microsoft.com/office/officeart/2005/8/layout/chevron1"/>
    <dgm:cxn modelId="{C0AA9CA3-A675-4CCC-B2F0-C401BA007987}" type="presParOf" srcId="{F4CF2F9B-2F4F-4CB0-9F02-4EC23835423F}" destId="{4C643D33-80CA-4E1D-89C2-A84A883B3579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988973-5A6D-4581-AF28-C134A9260C25}">
      <dsp:nvSpPr>
        <dsp:cNvPr id="0" name=""/>
        <dsp:cNvSpPr/>
      </dsp:nvSpPr>
      <dsp:spPr>
        <a:xfrm>
          <a:off x="3968" y="2414058"/>
          <a:ext cx="1476374" cy="590549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Setup Source JSON Data</a:t>
          </a:r>
        </a:p>
      </dsp:txBody>
      <dsp:txXfrm>
        <a:off x="299243" y="2414058"/>
        <a:ext cx="885825" cy="590549"/>
      </dsp:txXfrm>
    </dsp:sp>
    <dsp:sp modelId="{A5C2A6D9-5ACB-4E01-A403-ABE366DC5B6E}">
      <dsp:nvSpPr>
        <dsp:cNvPr id="0" name=""/>
        <dsp:cNvSpPr/>
      </dsp:nvSpPr>
      <dsp:spPr>
        <a:xfrm>
          <a:off x="1332706" y="2414058"/>
          <a:ext cx="1476374" cy="590549"/>
        </a:xfrm>
        <a:prstGeom prst="chevron">
          <a:avLst/>
        </a:prstGeom>
        <a:solidFill>
          <a:schemeClr val="accent1">
            <a:shade val="50000"/>
            <a:hueOff val="196550"/>
            <a:satOff val="-20659"/>
            <a:lumOff val="178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Setup Target JSON Data</a:t>
          </a:r>
        </a:p>
      </dsp:txBody>
      <dsp:txXfrm>
        <a:off x="1627981" y="2414058"/>
        <a:ext cx="885825" cy="590549"/>
      </dsp:txXfrm>
    </dsp:sp>
    <dsp:sp modelId="{C65C0B06-B8B9-4C3B-9399-D2CB31EAD156}">
      <dsp:nvSpPr>
        <dsp:cNvPr id="0" name=""/>
        <dsp:cNvSpPr/>
      </dsp:nvSpPr>
      <dsp:spPr>
        <a:xfrm>
          <a:off x="2661443" y="2414058"/>
          <a:ext cx="1476374" cy="590549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Run Framework Generate Draft</a:t>
          </a:r>
        </a:p>
      </dsp:txBody>
      <dsp:txXfrm>
        <a:off x="2956718" y="2414058"/>
        <a:ext cx="885825" cy="590549"/>
      </dsp:txXfrm>
    </dsp:sp>
    <dsp:sp modelId="{2C47AFE8-8D30-4579-B066-226B579E8ACF}">
      <dsp:nvSpPr>
        <dsp:cNvPr id="0" name=""/>
        <dsp:cNvSpPr/>
      </dsp:nvSpPr>
      <dsp:spPr>
        <a:xfrm>
          <a:off x="3990181" y="2414058"/>
          <a:ext cx="1476374" cy="590549"/>
        </a:xfrm>
        <a:prstGeom prst="chevron">
          <a:avLst/>
        </a:prstGeom>
        <a:solidFill>
          <a:schemeClr val="accent1">
            <a:shade val="50000"/>
            <a:hueOff val="589649"/>
            <a:satOff val="-61978"/>
            <a:lumOff val="534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Edit Draft</a:t>
          </a:r>
          <a:endParaRPr lang="en-US" sz="1000" kern="1200" dirty="0"/>
        </a:p>
      </dsp:txBody>
      <dsp:txXfrm>
        <a:off x="4285456" y="2414058"/>
        <a:ext cx="885825" cy="590549"/>
      </dsp:txXfrm>
    </dsp:sp>
    <dsp:sp modelId="{5F81507D-0060-4754-ABBC-F951AC643097}">
      <dsp:nvSpPr>
        <dsp:cNvPr id="0" name=""/>
        <dsp:cNvSpPr/>
      </dsp:nvSpPr>
      <dsp:spPr>
        <a:xfrm>
          <a:off x="5318918" y="2414058"/>
          <a:ext cx="1476374" cy="590549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Run Validator</a:t>
          </a:r>
        </a:p>
      </dsp:txBody>
      <dsp:txXfrm>
        <a:off x="5614193" y="2414058"/>
        <a:ext cx="885825" cy="590549"/>
      </dsp:txXfrm>
    </dsp:sp>
    <dsp:sp modelId="{4C643D33-80CA-4E1D-89C2-A84A883B3579}">
      <dsp:nvSpPr>
        <dsp:cNvPr id="0" name=""/>
        <dsp:cNvSpPr/>
      </dsp:nvSpPr>
      <dsp:spPr>
        <a:xfrm>
          <a:off x="6647656" y="2414058"/>
          <a:ext cx="1476374" cy="590549"/>
        </a:xfrm>
        <a:prstGeom prst="chevron">
          <a:avLst/>
        </a:prstGeom>
        <a:solidFill>
          <a:schemeClr val="accent1">
            <a:shade val="50000"/>
            <a:hueOff val="196550"/>
            <a:satOff val="-20659"/>
            <a:lumOff val="178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Generate Target-Source Map</a:t>
          </a:r>
          <a:endParaRPr lang="en-US" sz="1000" kern="1200" dirty="0"/>
        </a:p>
      </dsp:txBody>
      <dsp:txXfrm>
        <a:off x="6942931" y="2414058"/>
        <a:ext cx="885825" cy="590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30FD-D0A8-868A-9D7E-EA3B92CC8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E722B-1790-08EC-48CA-932D75F55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C984-FB56-46EF-F938-9A44ED5B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47E60-987E-0F77-4CB6-4FB8E570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9DE1F-0A82-F808-9A1E-B8EF9C40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94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5BD0-6DF5-A75D-5761-587A9D86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13253-917C-2BC2-87D2-BC13F9E48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32E-BB51-4ED9-E602-05BF02B5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D6018-684A-EFCF-FF25-54399A69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F268-ED96-188E-2BE1-70E8EA11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8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BEB4-700F-BBA5-D5F9-F6C3A185A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29767-4D75-46C6-2A32-C121695CB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61BD-3738-2A6A-390C-9725F76C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70099-CC13-6C10-A694-00A4CDDD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344C-D6BB-1D5C-1E98-388FC563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8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C964-D32C-14BC-5A13-82D94AEEB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2903-1783-601A-64CB-F0283A364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F9263-89B0-78E9-4781-A6F37DB03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A75D1-5BF8-017E-C3AE-3D79CB2A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CF2B8-AD1E-FE6F-C39B-92302760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D7D6E-D6ED-DD40-E386-2B91260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3DCE-825A-C64E-52CB-068997D3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496AA-08ED-E667-1CC1-9209FA70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53F26-27ED-238F-A8EA-E1D07F87D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A45B5-60C8-8189-1591-E8FD4258C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5D958-479D-8B5C-69E2-ED99A2E14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0BB7D-B34E-0D65-292D-26D8145C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9F6A1-517A-A3C7-D832-3E4119F4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9BEBBE-8DDB-EED1-F764-686AAB90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4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FBDA-5719-8E0E-79AB-59DAB70BC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A40A6-59CE-300F-CC0F-645E55BF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4FD2-919B-9558-297D-0BA78AD1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201D8-5B3C-CE4E-10B8-95CA879E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57FFDB-550A-7F26-6E14-C592E087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DBC5B-C80A-E84D-E946-AE7DEB78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1D20E-5229-0A24-04F6-CA547169A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2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FD69-CA90-CDB1-7BB4-D1B38761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2862-68CE-8E9E-F769-4B041FAFC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9EF0D-449B-2ABC-C853-D24C9CCA6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2C145-EA22-DA9A-3BB6-69705082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70ECB-EDC3-BF64-5569-2CE5B408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69E6E-AF82-CC7B-A19D-FABDF9F1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AFB2-7EAF-4431-DC5A-F2706F95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0E716-DC8D-8F27-CDD2-70B63C85F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F2FCD-3252-BE2F-9153-7EDE1D6A7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A1AB-FD56-9042-1F50-458009D0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8F39A-E957-F6D6-B4EB-9568C557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94A0D-F31B-6325-B247-426D76A7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8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DD73-F5B4-A158-2E11-16CE8BD9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4145-245E-D21F-A385-C0E60CD11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C66D1-BF61-942A-3262-9F8EC08E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A682F-12AA-2539-309C-2F5F06AB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A014A-7FB0-B771-E5DF-8F65D23F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78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9C17C-C6D7-7739-238D-C35388CDD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DE787-C184-F27A-3F9F-51AE45191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BC3E-47CA-961B-594E-7342363E0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AB359-662C-0419-5320-98A4BF2C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2C6DB-BCCB-A723-8071-82BC449B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3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9810A-5662-2104-42EB-5246CB00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49E69-63ED-947D-2004-69DC75B6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32A9-6915-AA30-56FC-61846A0D7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252A9-BAF5-4E60-8E61-0AE1F0F7A66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9AA9C-6EE0-C236-9B13-B1AF1BBA8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58987-4B20-1F30-43DF-3EBC3A599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D7564-6AD5-4D99-A762-40C16A08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9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A740E-B5D5-CBB6-B7AE-C08077A85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4256" y="1500203"/>
            <a:ext cx="7517274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CUSTOM PYTHON ETL FRAMEWORK</a:t>
            </a:r>
            <a:br>
              <a:rPr lang="en-US" sz="4000" dirty="0">
                <a:solidFill>
                  <a:schemeClr val="tx2"/>
                </a:solidFill>
              </a:rPr>
            </a:br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1028" name="Picture 2" descr="Shoes: Women's, Men's &amp; Kids Shoes from ...">
            <a:extLst>
              <a:ext uri="{FF2B5EF4-FFF2-40B4-BE49-F238E27FC236}">
                <a16:creationId xmlns:a16="http://schemas.microsoft.com/office/drawing/2014/main" id="{3210117E-C5D3-BA01-D25B-1DB9388B1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0470" y="2797318"/>
            <a:ext cx="4141760" cy="2177764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172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74D66-6D71-2B67-11EB-BCE8840DD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645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TARGET - SOURCE COLUMN MAP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2F39-329F-6B75-DC48-DCF76CD61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618597"/>
            <a:ext cx="9833548" cy="400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b="1" dirty="0"/>
              <a:t>Objective</a:t>
            </a:r>
          </a:p>
          <a:p>
            <a:r>
              <a:rPr lang="en-US" sz="1300" dirty="0"/>
              <a:t>Design a column mapping framework that defines how data moves from Source to Target during ETL.</a:t>
            </a:r>
          </a:p>
          <a:p>
            <a:r>
              <a:rPr lang="en-US" sz="1300" dirty="0"/>
              <a:t>The framework must be:</a:t>
            </a:r>
          </a:p>
          <a:p>
            <a:r>
              <a:rPr lang="en-US" sz="1300" dirty="0"/>
              <a:t>User friendly → easy to author, read, and review by humans.</a:t>
            </a:r>
          </a:p>
          <a:p>
            <a:r>
              <a:rPr lang="en-US" sz="1300" dirty="0"/>
              <a:t>Program </a:t>
            </a:r>
            <a:r>
              <a:rPr lang="en-US" sz="1300" dirty="0" err="1"/>
              <a:t>parseable</a:t>
            </a:r>
            <a:r>
              <a:rPr lang="en-US" sz="1300" dirty="0"/>
              <a:t> → strict JSON schema, deterministic rules.</a:t>
            </a:r>
          </a:p>
          <a:p>
            <a:r>
              <a:rPr lang="en-US" sz="1300" dirty="0"/>
              <a:t>Extendable → supports new source/target types, transformations, validations, audit rules without breaking old mappings.</a:t>
            </a:r>
          </a:p>
          <a:p>
            <a:r>
              <a:rPr lang="en-US" sz="1300" dirty="0"/>
              <a:t>Multi-format → supports CSV, fixed-width, XML, JSON, and DB tables as both sources and targets.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EA649482-C66A-29EF-69CD-7A8E40046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50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08851-7931-8060-09B2-3A8BD3BC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3BE9C-9CA6-9DC5-6685-01311CE3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645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TARGET - SOURCE COLUMN MAP   [Contd..]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7909-427D-BBC1-DFF0-DEDE70ED2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618597"/>
            <a:ext cx="9833548" cy="40029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Scope</a:t>
            </a:r>
          </a:p>
          <a:p>
            <a:pPr marL="0" indent="0">
              <a:buNone/>
            </a:pPr>
            <a:r>
              <a:rPr lang="en-US" sz="1200" b="1" dirty="0"/>
              <a:t>In Scope</a:t>
            </a:r>
          </a:p>
          <a:p>
            <a:r>
              <a:rPr lang="en-US" sz="1200" dirty="0"/>
              <a:t>Mapping definition for </a:t>
            </a:r>
            <a:r>
              <a:rPr lang="en-US" sz="1200" b="1" dirty="0"/>
              <a:t>one pipeline</a:t>
            </a:r>
            <a:r>
              <a:rPr lang="en-US" sz="1200" dirty="0"/>
              <a:t> at a time.</a:t>
            </a:r>
          </a:p>
          <a:p>
            <a:r>
              <a:rPr lang="en-US" sz="1200" b="1" dirty="0"/>
              <a:t>One source → one target table</a:t>
            </a:r>
            <a:r>
              <a:rPr lang="en-US" sz="1200" dirty="0"/>
              <a:t> per mapping file (v1).</a:t>
            </a:r>
            <a:br>
              <a:rPr lang="en-US" sz="1200" dirty="0"/>
            </a:br>
            <a:r>
              <a:rPr lang="en-US" sz="1200" dirty="0"/>
              <a:t>(Future: multiple sources/targets in a single mapping file.)</a:t>
            </a:r>
          </a:p>
          <a:p>
            <a:r>
              <a:rPr lang="en-US" sz="1200" dirty="0"/>
              <a:t>Support for:</a:t>
            </a:r>
          </a:p>
          <a:p>
            <a:pPr lvl="1"/>
            <a:r>
              <a:rPr lang="en-US" sz="1200" dirty="0"/>
              <a:t>Source formats:</a:t>
            </a:r>
            <a:br>
              <a:rPr lang="en-US" sz="1200" dirty="0"/>
            </a:br>
            <a:r>
              <a:rPr lang="en-US" sz="1200" dirty="0" err="1"/>
              <a:t>csv_with_header</a:t>
            </a:r>
            <a:r>
              <a:rPr lang="en-US" sz="1200" dirty="0"/>
              <a:t>, </a:t>
            </a:r>
            <a:r>
              <a:rPr lang="en-US" sz="1200" dirty="0" err="1"/>
              <a:t>csv_no_header</a:t>
            </a:r>
            <a:r>
              <a:rPr lang="en-US" sz="1200" dirty="0"/>
              <a:t>, </a:t>
            </a:r>
            <a:r>
              <a:rPr lang="en-US" sz="1200" dirty="0" err="1"/>
              <a:t>fixed_width</a:t>
            </a:r>
            <a:r>
              <a:rPr lang="en-US" sz="1200" dirty="0"/>
              <a:t>, </a:t>
            </a:r>
            <a:r>
              <a:rPr lang="en-US" sz="1200" dirty="0" err="1"/>
              <a:t>json</a:t>
            </a:r>
            <a:r>
              <a:rPr lang="en-US" sz="1200" dirty="0"/>
              <a:t>, xml, </a:t>
            </a:r>
            <a:r>
              <a:rPr lang="en-US" sz="1200" dirty="0" err="1"/>
              <a:t>db_table</a:t>
            </a:r>
            <a:endParaRPr lang="en-US" sz="1200" dirty="0"/>
          </a:p>
          <a:p>
            <a:pPr lvl="1"/>
            <a:r>
              <a:rPr lang="en-US" sz="1200" dirty="0"/>
              <a:t>Target formats:</a:t>
            </a:r>
            <a:br>
              <a:rPr lang="en-US" sz="1200" dirty="0"/>
            </a:br>
            <a:r>
              <a:rPr lang="en-US" sz="1200" dirty="0" err="1"/>
              <a:t>db_table</a:t>
            </a:r>
            <a:r>
              <a:rPr lang="en-US" sz="1200" dirty="0"/>
              <a:t>, csv, </a:t>
            </a:r>
            <a:r>
              <a:rPr lang="en-US" sz="1200" dirty="0" err="1"/>
              <a:t>json</a:t>
            </a:r>
            <a:r>
              <a:rPr lang="en-US" sz="1200" dirty="0"/>
              <a:t>, xml (targets beyond DB are future-ready)</a:t>
            </a:r>
          </a:p>
          <a:p>
            <a:r>
              <a:rPr lang="en-US" sz="1200" dirty="0"/>
              <a:t>Audit column auto-fill support.</a:t>
            </a:r>
          </a:p>
          <a:p>
            <a:r>
              <a:rPr lang="en-US" sz="1200" dirty="0"/>
              <a:t>Default formatting for date/time types.</a:t>
            </a:r>
          </a:p>
          <a:p>
            <a:r>
              <a:rPr lang="en-US" sz="1200" dirty="0"/>
              <a:t>Draft generation + manual refinement workflow.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b="1" dirty="0"/>
              <a:t>Out of Scope (v1)</a:t>
            </a:r>
          </a:p>
          <a:p>
            <a:r>
              <a:rPr lang="en-US" sz="1200" dirty="0"/>
              <a:t>Complex multi-source joins.</a:t>
            </a:r>
          </a:p>
          <a:p>
            <a:r>
              <a:rPr lang="en-US" sz="1200" dirty="0"/>
              <a:t>Full transformation language / expression engine (only placeholders).</a:t>
            </a:r>
          </a:p>
          <a:p>
            <a:r>
              <a:rPr lang="en-US" sz="1200" dirty="0"/>
              <a:t>Constraint enforcement (PK/FK/unique) at mapping stage.</a:t>
            </a:r>
          </a:p>
          <a:p>
            <a:pPr marL="0" indent="0">
              <a:buNone/>
            </a:pP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188B8FB7-C6C0-6251-0399-6BF376F69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1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AE7F-3C76-855A-6EC5-02CF1560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AEB6-8971-401E-2DF3-35C03CF1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645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TARGET - SOURCE COLUMN MAP   [Contd..]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66545-9620-D92C-D1FD-F63570D55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1618597"/>
            <a:ext cx="9833548" cy="4002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Key Design Principles</a:t>
            </a:r>
          </a:p>
          <a:p>
            <a:r>
              <a:rPr lang="en-US" sz="1200" b="1" dirty="0"/>
              <a:t>Single source of truth</a:t>
            </a:r>
            <a:r>
              <a:rPr lang="en-US" sz="1200" dirty="0"/>
              <a:t> for all mapping info.</a:t>
            </a:r>
          </a:p>
          <a:p>
            <a:r>
              <a:rPr lang="en-US" sz="1200" b="1" dirty="0"/>
              <a:t>Declarative</a:t>
            </a:r>
            <a:r>
              <a:rPr lang="en-US" sz="1200" dirty="0"/>
              <a:t> over procedural (JSON describes </a:t>
            </a:r>
            <a:r>
              <a:rPr lang="en-US" sz="1200" i="1" dirty="0"/>
              <a:t>what</a:t>
            </a:r>
            <a:r>
              <a:rPr lang="en-US" sz="1200" dirty="0"/>
              <a:t>, ETL engine decides </a:t>
            </a:r>
            <a:r>
              <a:rPr lang="en-US" sz="1200" i="1" dirty="0"/>
              <a:t>how</a:t>
            </a:r>
            <a:r>
              <a:rPr lang="en-US" sz="1200" dirty="0"/>
              <a:t>).</a:t>
            </a:r>
          </a:p>
          <a:p>
            <a:r>
              <a:rPr lang="en-US" sz="1200" b="1" dirty="0"/>
              <a:t>Backward compatibility</a:t>
            </a:r>
            <a:r>
              <a:rPr lang="en-US" sz="1200" dirty="0"/>
              <a:t> via versioning.</a:t>
            </a:r>
          </a:p>
          <a:p>
            <a:r>
              <a:rPr lang="en-US" sz="1200" b="1" dirty="0"/>
              <a:t>Separation of concerns</a:t>
            </a:r>
            <a:r>
              <a:rPr lang="en-US" sz="1200" dirty="0"/>
              <a:t>:</a:t>
            </a:r>
          </a:p>
          <a:p>
            <a:pPr lvl="1"/>
            <a:r>
              <a:rPr lang="en-US" sz="1200" dirty="0"/>
              <a:t>Mapping = structure + intent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84D2D9FE-DB4D-FA74-45A5-F1D857AD9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34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56D8ADDA-9BF1-9757-8AF5-3C17B8E38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210D3-C8E6-3685-F78A-0C1A1F05F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359778"/>
              </p:ext>
            </p:extLst>
          </p:nvPr>
        </p:nvGraphicFramePr>
        <p:xfrm>
          <a:off x="8395825" y="2438482"/>
          <a:ext cx="1863556" cy="3090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556">
                  <a:extLst>
                    <a:ext uri="{9D8B030D-6E8A-4147-A177-3AD203B41FA5}">
                      <a16:colId xmlns:a16="http://schemas.microsoft.com/office/drawing/2014/main" val="2844944357"/>
                    </a:ext>
                  </a:extLst>
                </a:gridCol>
              </a:tblGrid>
              <a:tr h="389561">
                <a:tc>
                  <a:txBody>
                    <a:bodyPr/>
                    <a:lstStyle/>
                    <a:p>
                      <a:r>
                        <a:rPr lang="en-US" sz="900" dirty="0"/>
                        <a:t>TARGET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742135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r>
                        <a:rPr lang="en-US" sz="900" dirty="0"/>
                        <a:t>COLUMN 1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455001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2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392782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3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057501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4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573330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REC_LOAD_ID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859190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REC_LOAD_DTTM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238601"/>
                  </a:ext>
                </a:extLst>
              </a:tr>
              <a:tr h="3160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ACTION_IND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52508"/>
                  </a:ext>
                </a:extLst>
              </a:tr>
              <a:tr h="2598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5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58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6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590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EBC397-B808-32CC-FEB2-E4169658B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218530"/>
              </p:ext>
            </p:extLst>
          </p:nvPr>
        </p:nvGraphicFramePr>
        <p:xfrm>
          <a:off x="2454403" y="1633588"/>
          <a:ext cx="2055368" cy="140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68">
                  <a:extLst>
                    <a:ext uri="{9D8B030D-6E8A-4147-A177-3AD203B41FA5}">
                      <a16:colId xmlns:a16="http://schemas.microsoft.com/office/drawing/2014/main" val="2844944357"/>
                    </a:ext>
                  </a:extLst>
                </a:gridCol>
              </a:tblGrid>
              <a:tr h="281002">
                <a:tc>
                  <a:txBody>
                    <a:bodyPr/>
                    <a:lstStyle/>
                    <a:p>
                      <a:r>
                        <a:rPr lang="en-US" sz="900" dirty="0"/>
                        <a:t>SOURCE CSV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42135"/>
                  </a:ext>
                </a:extLst>
              </a:tr>
              <a:tr h="281002">
                <a:tc>
                  <a:txBody>
                    <a:bodyPr/>
                    <a:lstStyle/>
                    <a:p>
                      <a:r>
                        <a:rPr lang="en-US" sz="900" dirty="0"/>
                        <a:t>COLUMN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55001"/>
                  </a:ext>
                </a:extLst>
              </a:tr>
              <a:tr h="281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92782"/>
                  </a:ext>
                </a:extLst>
              </a:tr>
              <a:tr h="281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57501"/>
                  </a:ext>
                </a:extLst>
              </a:tr>
              <a:tr h="281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5733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84AB56-2F1B-55AF-E9A0-7E7EE1F52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6426"/>
              </p:ext>
            </p:extLst>
          </p:nvPr>
        </p:nvGraphicFramePr>
        <p:xfrm>
          <a:off x="1575949" y="3429000"/>
          <a:ext cx="2055368" cy="1075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368">
                  <a:extLst>
                    <a:ext uri="{9D8B030D-6E8A-4147-A177-3AD203B41FA5}">
                      <a16:colId xmlns:a16="http://schemas.microsoft.com/office/drawing/2014/main" val="2844944357"/>
                    </a:ext>
                  </a:extLst>
                </a:gridCol>
              </a:tblGrid>
              <a:tr h="268863">
                <a:tc>
                  <a:txBody>
                    <a:bodyPr/>
                    <a:lstStyle/>
                    <a:p>
                      <a:r>
                        <a:rPr lang="en-US" sz="900" dirty="0"/>
                        <a:t>AUDIT COLUMNS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42135"/>
                  </a:ext>
                </a:extLst>
              </a:tr>
              <a:tr h="268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REC_LOAD_ID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55001"/>
                  </a:ext>
                </a:extLst>
              </a:tr>
              <a:tr h="268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REC_LOAD_DTTM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92782"/>
                  </a:ext>
                </a:extLst>
              </a:tr>
              <a:tr h="268863">
                <a:tc>
                  <a:txBody>
                    <a:bodyPr/>
                    <a:lstStyle/>
                    <a:p>
                      <a:r>
                        <a:rPr lang="en-US" sz="900" dirty="0"/>
                        <a:t>ACTION_IND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0575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5B0AA78-1288-B1CC-C74C-7DBEA6D1C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350538"/>
              </p:ext>
            </p:extLst>
          </p:nvPr>
        </p:nvGraphicFramePr>
        <p:xfrm>
          <a:off x="1932619" y="4936677"/>
          <a:ext cx="2660906" cy="94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906">
                  <a:extLst>
                    <a:ext uri="{9D8B030D-6E8A-4147-A177-3AD203B41FA5}">
                      <a16:colId xmlns:a16="http://schemas.microsoft.com/office/drawing/2014/main" val="2844944357"/>
                    </a:ext>
                  </a:extLst>
                </a:gridCol>
              </a:tblGrid>
              <a:tr h="288451">
                <a:tc>
                  <a:txBody>
                    <a:bodyPr/>
                    <a:lstStyle/>
                    <a:p>
                      <a:r>
                        <a:rPr lang="en-US" sz="900" dirty="0"/>
                        <a:t>TRANSFORMED COLUMNS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42135"/>
                  </a:ext>
                </a:extLst>
              </a:tr>
              <a:tr h="2884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5 = CONCAT(COLUMN 1, COLUMN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55001"/>
                  </a:ext>
                </a:extLst>
              </a:tr>
              <a:tr h="3030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/>
                        <a:t>COLUMN 6 = UPPER(COLUMN 1)</a:t>
                      </a:r>
                    </a:p>
                    <a:p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92782"/>
                  </a:ext>
                </a:extLst>
              </a:tr>
            </a:tbl>
          </a:graphicData>
        </a:graphic>
      </p:graphicFrame>
      <p:sp>
        <p:nvSpPr>
          <p:cNvPr id="11" name="Callout: Right Arrow 10">
            <a:extLst>
              <a:ext uri="{FF2B5EF4-FFF2-40B4-BE49-F238E27FC236}">
                <a16:creationId xmlns:a16="http://schemas.microsoft.com/office/drawing/2014/main" id="{37351BC6-A752-B7C0-86B8-C08DBCC54CF9}"/>
              </a:ext>
            </a:extLst>
          </p:cNvPr>
          <p:cNvSpPr/>
          <p:nvPr/>
        </p:nvSpPr>
        <p:spPr>
          <a:xfrm>
            <a:off x="4808231" y="2614178"/>
            <a:ext cx="3457945" cy="2510865"/>
          </a:xfrm>
          <a:prstGeom prst="rightArrow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MAPPING FRAMEWORK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E4D9054-5A30-8C7A-28D6-3521153E1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645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TARGET - SOURCE COLUMN MAP USECASE</a:t>
            </a:r>
          </a:p>
        </p:txBody>
      </p:sp>
    </p:spTree>
    <p:extLst>
      <p:ext uri="{BB962C8B-B14F-4D97-AF65-F5344CB8AC3E}">
        <p14:creationId xmlns:p14="http://schemas.microsoft.com/office/powerpoint/2010/main" val="4111037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A37B50D2-DC54-0450-E465-4C4775EA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776B41A-7E3E-AC38-A254-8B3FB6693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54978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84120F5A-0AA0-724B-4BAC-DE53749FA805}"/>
              </a:ext>
            </a:extLst>
          </p:cNvPr>
          <p:cNvSpPr/>
          <p:nvPr/>
        </p:nvSpPr>
        <p:spPr>
          <a:xfrm>
            <a:off x="6364224" y="2578608"/>
            <a:ext cx="1106424" cy="1993392"/>
          </a:xfrm>
          <a:prstGeom prst="curved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3AC735BA-7DE9-13DB-0301-FB9B5178A288}"/>
              </a:ext>
            </a:extLst>
          </p:cNvPr>
          <p:cNvSpPr/>
          <p:nvPr/>
        </p:nvSpPr>
        <p:spPr>
          <a:xfrm rot="10800000">
            <a:off x="7476744" y="2474976"/>
            <a:ext cx="1106424" cy="1993392"/>
          </a:xfrm>
          <a:prstGeom prst="curved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EACDA8-ED0A-B60E-4E46-4FD57EC7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5645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TARGET - SOURCE COLUMN MAP   WORKFLOW</a:t>
            </a:r>
          </a:p>
        </p:txBody>
      </p:sp>
    </p:spTree>
    <p:extLst>
      <p:ext uri="{BB962C8B-B14F-4D97-AF65-F5344CB8AC3E}">
        <p14:creationId xmlns:p14="http://schemas.microsoft.com/office/powerpoint/2010/main" val="4151017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26471-09E0-ECDC-CBB6-E2F1CBEE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hoes: Women's, Men's &amp; Kids Shoes from ...">
            <a:extLst>
              <a:ext uri="{FF2B5EF4-FFF2-40B4-BE49-F238E27FC236}">
                <a16:creationId xmlns:a16="http://schemas.microsoft.com/office/drawing/2014/main" id="{A45EB7E6-9EFE-2DFC-2EE0-B024673C9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53088" y="6417134"/>
            <a:ext cx="838451" cy="440863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37951D5-3178-6D5D-82FF-B833E5E45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73578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PYTHON TARGET - SOURCE COLUMN MAP PARSER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D2F7AD-81B7-38E0-AD9C-8205A5F5B2D2}"/>
              </a:ext>
            </a:extLst>
          </p:cNvPr>
          <p:cNvGrpSpPr/>
          <p:nvPr/>
        </p:nvGrpSpPr>
        <p:grpSpPr>
          <a:xfrm>
            <a:off x="10036352" y="4419500"/>
            <a:ext cx="1316736" cy="1609344"/>
            <a:chOff x="9043416" y="2587752"/>
            <a:chExt cx="1691640" cy="2235708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" name="Flowchart: Magnetic Disk 1">
              <a:extLst>
                <a:ext uri="{FF2B5EF4-FFF2-40B4-BE49-F238E27FC236}">
                  <a16:creationId xmlns:a16="http://schemas.microsoft.com/office/drawing/2014/main" id="{A166B195-75E6-7172-5A66-B4BE1809EC6C}"/>
                </a:ext>
              </a:extLst>
            </p:cNvPr>
            <p:cNvSpPr/>
            <p:nvPr/>
          </p:nvSpPr>
          <p:spPr>
            <a:xfrm>
              <a:off x="9043416" y="2587752"/>
              <a:ext cx="1691640" cy="960120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lowchart: Magnetic Disk 2">
              <a:extLst>
                <a:ext uri="{FF2B5EF4-FFF2-40B4-BE49-F238E27FC236}">
                  <a16:creationId xmlns:a16="http://schemas.microsoft.com/office/drawing/2014/main" id="{B63847C9-CE7E-67D6-22CA-8BB2F6655683}"/>
                </a:ext>
              </a:extLst>
            </p:cNvPr>
            <p:cNvSpPr/>
            <p:nvPr/>
          </p:nvSpPr>
          <p:spPr>
            <a:xfrm>
              <a:off x="9043416" y="3220212"/>
              <a:ext cx="1691640" cy="960120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lowchart: Magnetic Disk 22">
              <a:extLst>
                <a:ext uri="{FF2B5EF4-FFF2-40B4-BE49-F238E27FC236}">
                  <a16:creationId xmlns:a16="http://schemas.microsoft.com/office/drawing/2014/main" id="{63C1E09A-F674-8621-A382-7096B1B8AD71}"/>
                </a:ext>
              </a:extLst>
            </p:cNvPr>
            <p:cNvSpPr/>
            <p:nvPr/>
          </p:nvSpPr>
          <p:spPr>
            <a:xfrm>
              <a:off x="9043416" y="3863340"/>
              <a:ext cx="1691640" cy="960120"/>
            </a:xfrm>
            <a:prstGeom prst="flowChartMagneticDisk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Flowchart: Multidocument 24">
            <a:extLst>
              <a:ext uri="{FF2B5EF4-FFF2-40B4-BE49-F238E27FC236}">
                <a16:creationId xmlns:a16="http://schemas.microsoft.com/office/drawing/2014/main" id="{56404A9B-A8A5-5C74-A140-3876EF264747}"/>
              </a:ext>
            </a:extLst>
          </p:cNvPr>
          <p:cNvSpPr/>
          <p:nvPr/>
        </p:nvSpPr>
        <p:spPr>
          <a:xfrm>
            <a:off x="484632" y="1856232"/>
            <a:ext cx="1618488" cy="1369668"/>
          </a:xfrm>
          <a:prstGeom prst="flowChartMultidocumen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96E342-8B29-C277-733B-653F73ECFB1B}"/>
              </a:ext>
            </a:extLst>
          </p:cNvPr>
          <p:cNvSpPr txBox="1"/>
          <p:nvPr/>
        </p:nvSpPr>
        <p:spPr>
          <a:xfrm>
            <a:off x="10214748" y="4354560"/>
            <a:ext cx="95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TARGET</a:t>
            </a:r>
          </a:p>
        </p:txBody>
      </p:sp>
      <p:sp>
        <p:nvSpPr>
          <p:cNvPr id="27" name="Double Brace 26">
            <a:extLst>
              <a:ext uri="{FF2B5EF4-FFF2-40B4-BE49-F238E27FC236}">
                <a16:creationId xmlns:a16="http://schemas.microsoft.com/office/drawing/2014/main" id="{01DD2D8F-D373-58EC-4F8D-4E7B3E613758}"/>
              </a:ext>
            </a:extLst>
          </p:cNvPr>
          <p:cNvSpPr/>
          <p:nvPr/>
        </p:nvSpPr>
        <p:spPr>
          <a:xfrm>
            <a:off x="369982" y="4675223"/>
            <a:ext cx="1618488" cy="658368"/>
          </a:xfrm>
          <a:prstGeom prst="bracePair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MAPPING</a:t>
            </a:r>
          </a:p>
          <a:p>
            <a:pPr algn="ctr"/>
            <a:r>
              <a:rPr lang="en-US" dirty="0"/>
              <a:t>JSON</a:t>
            </a:r>
          </a:p>
        </p:txBody>
      </p:sp>
      <p:sp>
        <p:nvSpPr>
          <p:cNvPr id="28" name="Cube 27">
            <a:extLst>
              <a:ext uri="{FF2B5EF4-FFF2-40B4-BE49-F238E27FC236}">
                <a16:creationId xmlns:a16="http://schemas.microsoft.com/office/drawing/2014/main" id="{3087734C-B13A-9391-1874-89AEAD1E3B47}"/>
              </a:ext>
            </a:extLst>
          </p:cNvPr>
          <p:cNvSpPr/>
          <p:nvPr/>
        </p:nvSpPr>
        <p:spPr>
          <a:xfrm>
            <a:off x="4941336" y="1795107"/>
            <a:ext cx="1993392" cy="9144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</a:t>
            </a:r>
          </a:p>
          <a:p>
            <a:pPr algn="ctr"/>
            <a:r>
              <a:rPr lang="en-US" dirty="0"/>
              <a:t>DATAFRAMES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566A1F40-DF5F-9AD2-4448-CA3A25CDAEF6}"/>
              </a:ext>
            </a:extLst>
          </p:cNvPr>
          <p:cNvSpPr/>
          <p:nvPr/>
        </p:nvSpPr>
        <p:spPr>
          <a:xfrm>
            <a:off x="5099304" y="4651497"/>
            <a:ext cx="1993392" cy="9144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TRANSFORMED</a:t>
            </a:r>
          </a:p>
          <a:p>
            <a:pPr algn="ctr"/>
            <a:r>
              <a:rPr lang="en-US" dirty="0"/>
              <a:t>DATAFRAMES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C7AE98FF-96BC-2A76-6AD4-A2383226EFD5}"/>
              </a:ext>
            </a:extLst>
          </p:cNvPr>
          <p:cNvSpPr/>
          <p:nvPr/>
        </p:nvSpPr>
        <p:spPr>
          <a:xfrm>
            <a:off x="2532888" y="2286000"/>
            <a:ext cx="1691640" cy="192024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B30DD40-275A-F50D-E55A-C701BD967F37}"/>
              </a:ext>
            </a:extLst>
          </p:cNvPr>
          <p:cNvSpPr/>
          <p:nvPr/>
        </p:nvSpPr>
        <p:spPr>
          <a:xfrm>
            <a:off x="2452878" y="4846320"/>
            <a:ext cx="1691640" cy="192024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2485C78-107D-A4B2-57AC-4075F65DDEF7}"/>
              </a:ext>
            </a:extLst>
          </p:cNvPr>
          <p:cNvSpPr/>
          <p:nvPr/>
        </p:nvSpPr>
        <p:spPr>
          <a:xfrm rot="5400000">
            <a:off x="4996200" y="3584490"/>
            <a:ext cx="1691640" cy="192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2DFDB9F7-7148-D0D2-7D19-B9EFA2203186}"/>
              </a:ext>
            </a:extLst>
          </p:cNvPr>
          <p:cNvSpPr/>
          <p:nvPr/>
        </p:nvSpPr>
        <p:spPr>
          <a:xfrm>
            <a:off x="7925562" y="4942332"/>
            <a:ext cx="1691640" cy="192024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7C6014-CE13-6A1D-AAC1-DAFBDCCD6C83}"/>
              </a:ext>
            </a:extLst>
          </p:cNvPr>
          <p:cNvSpPr txBox="1"/>
          <p:nvPr/>
        </p:nvSpPr>
        <p:spPr>
          <a:xfrm>
            <a:off x="3190977" y="3558166"/>
            <a:ext cx="22318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APPLY </a:t>
            </a:r>
          </a:p>
          <a:p>
            <a:r>
              <a:rPr lang="en-US" dirty="0">
                <a:highlight>
                  <a:srgbClr val="FFFF00"/>
                </a:highlight>
              </a:rPr>
              <a:t>MAPPING RULES</a:t>
            </a:r>
          </a:p>
          <a:p>
            <a:r>
              <a:rPr lang="en-US" dirty="0">
                <a:highlight>
                  <a:srgbClr val="FFFF00"/>
                </a:highlight>
              </a:rPr>
              <a:t>TRANSFORMATIONS</a:t>
            </a:r>
          </a:p>
          <a:p>
            <a:r>
              <a:rPr lang="en-US" dirty="0">
                <a:highlight>
                  <a:srgbClr val="FFFF00"/>
                </a:highlight>
              </a:rPr>
              <a:t>COLUMN ORDER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2EFA32-E1A2-9F47-94EC-EE7CBACF8491}"/>
              </a:ext>
            </a:extLst>
          </p:cNvPr>
          <p:cNvSpPr/>
          <p:nvPr/>
        </p:nvSpPr>
        <p:spPr>
          <a:xfrm>
            <a:off x="2322576" y="1399141"/>
            <a:ext cx="7535379" cy="47822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CDC8A4-9CCD-864A-8219-6ED88B54A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881" y="1483332"/>
            <a:ext cx="768096" cy="22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78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420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CUSTOM PYTHON ETL FRAMEWORK </vt:lpstr>
      <vt:lpstr>TARGET - SOURCE COLUMN MAP</vt:lpstr>
      <vt:lpstr>TARGET - SOURCE COLUMN MAP   [Contd..]</vt:lpstr>
      <vt:lpstr>TARGET - SOURCE COLUMN MAP   [Contd..]</vt:lpstr>
      <vt:lpstr>TARGET - SOURCE COLUMN MAP USECASE</vt:lpstr>
      <vt:lpstr>TARGET - SOURCE COLUMN MAP   WORKFLOW</vt:lpstr>
      <vt:lpstr>PYTHON TARGET - SOURCE COLUMN MAP PARSER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Bhattaram</dc:creator>
  <cp:lastModifiedBy>Venkata Bhattaram</cp:lastModifiedBy>
  <cp:revision>17</cp:revision>
  <dcterms:created xsi:type="dcterms:W3CDTF">2025-11-24T12:42:07Z</dcterms:created>
  <dcterms:modified xsi:type="dcterms:W3CDTF">2025-11-24T13:41:51Z</dcterms:modified>
</cp:coreProperties>
</file>